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Apresente-se em uma frase. Diga que o trabalho mostra como a IA pode buscar informação por SIGNIFICADO, e não apenas por palavras exatas. (~30s)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Explique a dor: busca por palavra-chave é literal. Dê o exemplo 'celular travando' vs 'aparelho congela' — mesmo sentido, palavras diferentes. É esse problema que o trabalho resolve. (~1 min)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Leia os três verbos: analisar, organizar, recuperar. Diga que o sistema usa técnicas modernas de IA (embeddings) para isso. (~45s)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Essa é a parte conceitual mais importante. Use a analogia: cada texto vira um ponto num mapa; textos parecidos ficam perto. Não precisa entrar em matemática. (~1,5 min)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Diga que escolheu uma base REAL e em português, para o trabalho ter valor prático. Mencione o tamanho (~130 mil). (~45s)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Passe rápido pelas 5 etapas, sem aprofundar. Diga que vai mostrar os resultados de cada uma nos próximos slides. (~1 min)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Mostre que, antes da parte semântica, dá para entender a base só pela frequência das palavras. Comente 1 ou 2 termos do gráfico. (~45s)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Explique o cosseno de forma simples: quanto mais alinhados os vetores, mais parecido o sentido; valor perto de 1 = muito parecido. (~1 min)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é o slide mais importante — é a prova de que funciona. Destaque que a busca achou 'furado' e 'bateria fraca' por SENTIDO, não por palavra. Pode abrir o app ao vivo aqui se quiser. (~1,5 min)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Mostre que, além de buscar, o sistema ORGANIZA: cada cor é um grupo de avaliações com assunto parecido, descoberto sem rótulos. (~45s)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Aqui você abre o app ao vivo (ou mostra um print). Faça UMA busca na frente da turma — é o momento de maior impacto. O link está no slide. (~1,5 min)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Feche conectando com o mundo real: é a mesma ideia por trás do ChatGPT com busca, do Google semântico, etc. Reforce que o objetivo foi cumprido. (~1 min)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Agradeça e abra para perguntas. (~30s)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trabalho-nlp-lw2nakkbxysdjuxkaipr3x.streamlit.app/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C5C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4572000"/>
            <a:ext cx="12191695" cy="109728"/>
          </a:xfrm>
          <a:prstGeom prst="rect">
            <a:avLst/>
          </a:prstGeom>
          <a:solidFill>
            <a:srgbClr val="00C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3272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4600" b="1">
                <a:solidFill>
                  <a:srgbClr val="FFFFFF"/>
                </a:solidFill>
                <a:latin typeface="Segoe UI"/>
              </a:rPr>
              <a:t>Busca Semântica em Textos</a:t>
            </a:r>
          </a:p>
          <a:p>
            <a:pPr algn="l">
              <a:spcAft>
                <a:spcPts val="400"/>
              </a:spcAft>
            </a:pPr>
            <a:r>
              <a:rPr sz="2200" b="0">
                <a:solidFill>
                  <a:srgbClr val="EAE7FF"/>
                </a:solidFill>
                <a:latin typeface="Segoe UI"/>
              </a:rPr>
              <a:t>Recuperação inteligente de informação com NLP e embeddings vetoriais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937760"/>
            <a:ext cx="103327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>
                <a:solidFill>
                  <a:srgbClr val="FFFFFF"/>
                </a:solidFill>
                <a:latin typeface="Segoe UI"/>
              </a:rPr>
              <a:t>Processamento de Linguagem Natural  •  IESB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EAE7FF"/>
                </a:solidFill>
                <a:latin typeface="Segoe UI"/>
              </a:rPr>
              <a:t>Cesar Eustaquio da Fonseca Filho  —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6032"/>
            <a:ext cx="2194560" cy="54864"/>
          </a:xfrm>
          <a:prstGeom prst="rect">
            <a:avLst/>
          </a:prstGeom>
          <a:solidFill>
            <a:srgbClr val="00C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1">
                <a:solidFill>
                  <a:srgbClr val="1E1B2E"/>
                </a:solidFill>
                <a:latin typeface="Segoe UI"/>
              </a:rPr>
              <a:t>O problema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45920"/>
            <a:ext cx="1051560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1">
                <a:solidFill>
                  <a:srgbClr val="1E1B2E"/>
                </a:solidFill>
                <a:latin typeface="Segoe UI"/>
              </a:rPr>
              <a:t>•  A busca tradicional procura PALAVRAS EXATAS.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475569"/>
                </a:solidFill>
                <a:latin typeface="Segoe UI"/>
              </a:rPr>
              <a:t>•  Se você busca "celular travando" e o texto diz "aparelho congela", a busca por palavra-chave não encontra.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475569"/>
                </a:solidFill>
                <a:latin typeface="Segoe UI"/>
              </a:rPr>
              <a:t>•  Em grandes volumes de texto, isso faz perder informação relevante.</a:t>
            </a:r>
          </a:p>
          <a:p>
            <a:pPr algn="l">
              <a:spcAft>
                <a:spcPts val="1000"/>
              </a:spcAft>
            </a:pPr>
            <a:r>
              <a:rPr sz="2200" b="1">
                <a:solidFill>
                  <a:srgbClr val="1E1B2E"/>
                </a:solidFill>
                <a:latin typeface="Segoe UI"/>
              </a:rPr>
              <a:t>•  Precisamos buscar por SIGNIFICADO, não por palavra exata.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6032"/>
            <a:ext cx="2194560" cy="54864"/>
          </a:xfrm>
          <a:prstGeom prst="rect">
            <a:avLst/>
          </a:prstGeom>
          <a:solidFill>
            <a:srgbClr val="00C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1">
                <a:solidFill>
                  <a:srgbClr val="1E1B2E"/>
                </a:solidFill>
                <a:latin typeface="Segoe UI"/>
              </a:rPr>
              <a:t>Objetivo do trabalho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45920"/>
            <a:ext cx="1051560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1">
                <a:solidFill>
                  <a:srgbClr val="1E1B2E"/>
                </a:solidFill>
                <a:latin typeface="Segoe UI"/>
              </a:rPr>
              <a:t>•  Desenvolver um sistema de NLP capaz de: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475569"/>
                </a:solidFill>
                <a:latin typeface="Segoe UI"/>
              </a:rPr>
              <a:t>•  ANALISAR um grande volume de textos;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475569"/>
                </a:solidFill>
                <a:latin typeface="Segoe UI"/>
              </a:rPr>
              <a:t>•  ORGANIZAR esses textos por similaridade de conteúdo;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475569"/>
                </a:solidFill>
                <a:latin typeface="Segoe UI"/>
              </a:rPr>
              <a:t>•  RECUPERAR informação de forma semântica (por significado).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475569"/>
                </a:solidFill>
                <a:latin typeface="Segoe UI"/>
              </a:rPr>
              <a:t>•  Demonstrando como embeddings vetoriais melhoram a busca em texto.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6032"/>
            <a:ext cx="2194560" cy="54864"/>
          </a:xfrm>
          <a:prstGeom prst="rect">
            <a:avLst/>
          </a:prstGeom>
          <a:solidFill>
            <a:srgbClr val="00C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1">
                <a:solidFill>
                  <a:srgbClr val="1E1B2E"/>
                </a:solidFill>
                <a:latin typeface="Segoe UI"/>
              </a:rPr>
              <a:t>A ideia central: embeddings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45920"/>
            <a:ext cx="1051560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1">
                <a:solidFill>
                  <a:srgbClr val="1E1B2E"/>
                </a:solidFill>
                <a:latin typeface="Segoe UI"/>
              </a:rPr>
              <a:t>•  Embedding = transformar um texto em um vetor de números.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475569"/>
                </a:solidFill>
                <a:latin typeface="Segoe UI"/>
              </a:rPr>
              <a:t>•  Cada frase vira um ponto em um espaço de muitas dimensões (aqui, 384).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475569"/>
                </a:solidFill>
                <a:latin typeface="Segoe UI"/>
              </a:rPr>
              <a:t>•  Textos com SIGNIFICADO parecido ficam PRÓXIMOS nesse espaço.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475569"/>
                </a:solidFill>
                <a:latin typeface="Segoe UI"/>
              </a:rPr>
              <a:t>•  "chegou quebrado" e "veio com defeito" → vetores próximos.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E1B2E"/>
                </a:solidFill>
                <a:latin typeface="Segoe UI"/>
              </a:rPr>
              <a:t>•  Assim, medir distância entre vetores = medir semelhança de sentido.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6032"/>
            <a:ext cx="2194560" cy="54864"/>
          </a:xfrm>
          <a:prstGeom prst="rect">
            <a:avLst/>
          </a:prstGeom>
          <a:solidFill>
            <a:srgbClr val="00C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1">
                <a:solidFill>
                  <a:srgbClr val="1E1B2E"/>
                </a:solidFill>
                <a:latin typeface="Segoe UI"/>
              </a:rPr>
              <a:t>Os dados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45920"/>
            <a:ext cx="1051560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1">
                <a:solidFill>
                  <a:srgbClr val="1E1B2E"/>
                </a:solidFill>
                <a:latin typeface="Segoe UI"/>
              </a:rPr>
              <a:t>•  Base B2W-Reviews01 — avaliações reais de e-commerce em português.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475569"/>
                </a:solidFill>
                <a:latin typeface="Segoe UI"/>
              </a:rPr>
              <a:t>•  ≈ 130 mil avaliações de produtos (Americanas/B2W).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475569"/>
                </a:solidFill>
                <a:latin typeface="Segoe UI"/>
              </a:rPr>
              <a:t>•  Colunas usadas: texto da avaliação, categoria, nota (1–5) e título.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475569"/>
                </a:solidFill>
                <a:latin typeface="Segoe UI"/>
              </a:rPr>
              <a:t>•  Texto real, escrito por clientes — com gírias, erros e abreviações.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6032"/>
            <a:ext cx="2194560" cy="54864"/>
          </a:xfrm>
          <a:prstGeom prst="rect">
            <a:avLst/>
          </a:prstGeom>
          <a:solidFill>
            <a:srgbClr val="00C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1">
                <a:solidFill>
                  <a:srgbClr val="1E1B2E"/>
                </a:solidFill>
                <a:latin typeface="Segoe UI"/>
              </a:rPr>
              <a:t>Metodologia (passo a passo)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45920"/>
            <a:ext cx="1051560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0">
                <a:solidFill>
                  <a:srgbClr val="475569"/>
                </a:solidFill>
                <a:latin typeface="Segoe UI"/>
              </a:rPr>
              <a:t>•  1.  Limpeza do texto — minúsculas, sem pontuação, remoção de stopwords.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475569"/>
                </a:solidFill>
                <a:latin typeface="Segoe UI"/>
              </a:rPr>
              <a:t>•  2.  Análise exploratória — palavras e expressões mais frequentes.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475569"/>
                </a:solidFill>
                <a:latin typeface="Segoe UI"/>
              </a:rPr>
              <a:t>•  3.  Embeddings — cada avaliação vira um vetor (modelo multilíngue).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475569"/>
                </a:solidFill>
                <a:latin typeface="Segoe UI"/>
              </a:rPr>
              <a:t>•  4.  Organização — agrupamento (K-Means) por similaridade.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E1B2E"/>
                </a:solidFill>
                <a:latin typeface="Segoe UI"/>
              </a:rPr>
              <a:t>•  5.  Busca semântica — consulta → vetor → similaridade do cosseno.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6032"/>
            <a:ext cx="2194560" cy="54864"/>
          </a:xfrm>
          <a:prstGeom prst="rect">
            <a:avLst/>
          </a:prstGeom>
          <a:solidFill>
            <a:srgbClr val="00C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1">
                <a:solidFill>
                  <a:srgbClr val="1E1B2E"/>
                </a:solidFill>
                <a:latin typeface="Segoe UI"/>
              </a:rPr>
              <a:t>Análise: palavras mais frequentes</a:t>
            </a:r>
          </a:p>
        </p:txBody>
      </p:sp>
      <p:pic>
        <p:nvPicPr>
          <p:cNvPr id="5" name="Picture 4" descr="img_frequen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9817" y="1554480"/>
            <a:ext cx="9672061" cy="4297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603504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6C5CE7"/>
                </a:solidFill>
                <a:latin typeface="Segoe UI"/>
              </a:rPr>
              <a:t>Termos como 'produto', 'entrega', 'recomendo' dominam as avaliações.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6032"/>
            <a:ext cx="2194560" cy="54864"/>
          </a:xfrm>
          <a:prstGeom prst="rect">
            <a:avLst/>
          </a:prstGeom>
          <a:solidFill>
            <a:srgbClr val="00C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1">
                <a:solidFill>
                  <a:srgbClr val="1E1B2E"/>
                </a:solidFill>
                <a:latin typeface="Segoe UI"/>
              </a:rPr>
              <a:t>Como a busca semântica funciona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45920"/>
            <a:ext cx="1051560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0">
                <a:solidFill>
                  <a:srgbClr val="475569"/>
                </a:solidFill>
                <a:latin typeface="Segoe UI"/>
              </a:rPr>
              <a:t>•  1.  O usuário digita uma consulta em linguagem natural.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475569"/>
                </a:solidFill>
                <a:latin typeface="Segoe UI"/>
              </a:rPr>
              <a:t>•  2.  A consulta é transformada no mesmo tipo de vetor das avaliações.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475569"/>
                </a:solidFill>
                <a:latin typeface="Segoe UI"/>
              </a:rPr>
              <a:t>•  3.  Calculamos a similaridade do cosseno entre a consulta e cada texto.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475569"/>
                </a:solidFill>
                <a:latin typeface="Segoe UI"/>
              </a:rPr>
              <a:t>•  4.  Retornamos as avaliações mais próximas (maior similaridade).</a:t>
            </a:r>
          </a:p>
          <a:p>
            <a:pPr algn="l">
              <a:spcAft>
                <a:spcPts val="1000"/>
              </a:spcAft>
            </a:pPr>
            <a:r>
              <a:rPr sz="1800" b="1">
                <a:solidFill>
                  <a:srgbClr val="1E1B2E"/>
                </a:solidFill>
                <a:latin typeface="Segoe UI"/>
              </a:rPr>
              <a:t>•  Similaridade do cosseno = o quão alinhados dois vetores estão (0 a 1).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6032"/>
            <a:ext cx="2194560" cy="54864"/>
          </a:xfrm>
          <a:prstGeom prst="rect">
            <a:avLst/>
          </a:prstGeom>
          <a:solidFill>
            <a:srgbClr val="00C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1">
                <a:solidFill>
                  <a:srgbClr val="1E1B2E"/>
                </a:solidFill>
                <a:latin typeface="Segoe UI"/>
              </a:rPr>
              <a:t>Resultado: busca por significado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45920"/>
            <a:ext cx="1051560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1">
                <a:solidFill>
                  <a:srgbClr val="1E1B2E"/>
                </a:solidFill>
                <a:latin typeface="Segoe UI"/>
              </a:rPr>
              <a:t>•  Consulta: "o produto chegou quebrado e com defeito"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475569"/>
                </a:solidFill>
                <a:latin typeface="Segoe UI"/>
              </a:rPr>
              <a:t>•  → "O produto veio quebrado em várias partes"   (83%)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475569"/>
                </a:solidFill>
                <a:latin typeface="Segoe UI"/>
              </a:rPr>
              <a:t>•  → "O produto veio furado, não dá pra aproveitar"   (78%)</a:t>
            </a:r>
          </a:p>
          <a:p>
            <a:pPr algn="l">
              <a:spcAft>
                <a:spcPts val="1000"/>
              </a:spcAft>
            </a:pPr>
            <a:r>
              <a:rPr sz="1900" b="1">
                <a:solidFill>
                  <a:srgbClr val="1E1B2E"/>
                </a:solidFill>
                <a:latin typeface="Segoe UI"/>
              </a:rPr>
              <a:t>•  Repare: encontrou "furado" e "defeito" sem a consulta usar essas palavras.</a:t>
            </a:r>
          </a:p>
          <a:p>
            <a:pPr algn="l">
              <a:spcAft>
                <a:spcPts val="1000"/>
              </a:spcAft>
            </a:pPr>
            <a:r>
              <a:rPr sz="1900" b="0">
                <a:solidFill>
                  <a:srgbClr val="475569"/>
                </a:solidFill>
                <a:latin typeface="Segoe UI"/>
              </a:rPr>
              <a:t>•  Consulta: "a bateria descarrega muito rápido"  →  celulares c/ bateria fraca (87%)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6032"/>
            <a:ext cx="2194560" cy="54864"/>
          </a:xfrm>
          <a:prstGeom prst="rect">
            <a:avLst/>
          </a:prstGeom>
          <a:solidFill>
            <a:srgbClr val="00C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1">
                <a:solidFill>
                  <a:srgbClr val="1E1B2E"/>
                </a:solidFill>
                <a:latin typeface="Segoe UI"/>
              </a:rPr>
              <a:t>Organização: agrupamento semântico</a:t>
            </a:r>
          </a:p>
        </p:txBody>
      </p:sp>
      <p:pic>
        <p:nvPicPr>
          <p:cNvPr id="5" name="Picture 4" descr="img_clus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0827" y="1554480"/>
            <a:ext cx="6490040" cy="4297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603504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6C5CE7"/>
                </a:solidFill>
                <a:latin typeface="Segoe UI"/>
              </a:rPr>
              <a:t>O K-Means separa as avaliações em grupos de conteúdo parecido, automaticamente.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6032"/>
            <a:ext cx="2194560" cy="54864"/>
          </a:xfrm>
          <a:prstGeom prst="rect">
            <a:avLst/>
          </a:prstGeom>
          <a:solidFill>
            <a:srgbClr val="00C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1">
                <a:solidFill>
                  <a:srgbClr val="1E1B2E"/>
                </a:solidFill>
                <a:latin typeface="Segoe UI"/>
              </a:rPr>
              <a:t>O sistema online (Streamlit)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45920"/>
            <a:ext cx="1051560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1">
                <a:solidFill>
                  <a:srgbClr val="1E1B2E"/>
                </a:solidFill>
                <a:latin typeface="Segoe UI"/>
              </a:rPr>
              <a:t>•  Tudo isso virou um app web simples de usar.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475569"/>
                </a:solidFill>
                <a:latin typeface="Segoe UI"/>
              </a:rPr>
              <a:t>•  O usuário digita a busca e vê os resultados em cards.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475569"/>
                </a:solidFill>
                <a:latin typeface="Segoe UI"/>
              </a:rPr>
              <a:t>•  Cada resultado mostra: categoria, nota, texto e % de similaridade.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475569"/>
                </a:solidFill>
                <a:latin typeface="Segoe UI"/>
              </a:rPr>
              <a:t>•  Publicado gratuitamente na nuvem (Streamlit Community Cloud).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5074920"/>
            <a:ext cx="10515600" cy="868680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🔗  Acesse o app:  </a:t>
            </a:r>
            <a:r>
              <a:rPr sz="1800">
                <a:solidFill>
                  <a:srgbClr val="EAE7FF"/>
                </a:solidFill>
                <a:latin typeface="Segoe UI"/>
                <a:hlinkClick r:id="rId3"/>
              </a:rPr>
              <a:t>https://trabalho-nlp-lw2nakkbxysdjuxkaipr3x.streamlit.app/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6032"/>
            <a:ext cx="2194560" cy="54864"/>
          </a:xfrm>
          <a:prstGeom prst="rect">
            <a:avLst/>
          </a:prstGeom>
          <a:solidFill>
            <a:srgbClr val="00C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1">
                <a:solidFill>
                  <a:srgbClr val="1E1B2E"/>
                </a:solidFill>
                <a:latin typeface="Segoe UI"/>
              </a:rPr>
              <a:t>Conclusão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45920"/>
            <a:ext cx="1051560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1">
                <a:solidFill>
                  <a:srgbClr val="1E1B2E"/>
                </a:solidFill>
                <a:latin typeface="Segoe UI"/>
              </a:rPr>
              <a:t>•  Demonstramos uma busca que entende o SIGNIFICADO do texto.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475569"/>
                </a:solidFill>
                <a:latin typeface="Segoe UI"/>
              </a:rPr>
              <a:t>•  Embeddings + similaridade do cosseno recuperam informação relevante.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475569"/>
                </a:solidFill>
                <a:latin typeface="Segoe UI"/>
              </a:rPr>
              <a:t>•  É a base de tecnologias atuais: buscadores semânticos, assistentes de IA e bancos de dados vetoriais (RAG).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E1B2E"/>
                </a:solidFill>
                <a:latin typeface="Segoe UI"/>
              </a:rPr>
              <a:t>•  NLP ajuda a interpretar e recuperar conhecimento em grandes volumes de texto.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C5C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4297680"/>
            <a:ext cx="12191695" cy="109728"/>
          </a:xfrm>
          <a:prstGeom prst="rect">
            <a:avLst/>
          </a:prstGeom>
          <a:solidFill>
            <a:srgbClr val="00C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77440"/>
            <a:ext cx="1033272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1000"/>
              </a:spcAft>
            </a:pPr>
            <a:r>
              <a:rPr sz="4800" b="1">
                <a:solidFill>
                  <a:srgbClr val="FFFFFF"/>
                </a:solidFill>
                <a:latin typeface="Segoe UI"/>
              </a:rPr>
              <a:t>Obrigado!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