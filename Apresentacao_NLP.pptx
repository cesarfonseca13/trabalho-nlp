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Apresente-se em uma frase. Diga que o trabalho mostra como a IA pode buscar informação por SIGNIFICADO, e não apenas por palavras exatas.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a dor: busca por palavra-chave é literal. Dê o exemplo 'celular travando' vs 'aparelho congela' — mesmo sentido, palavras diferentes. É esse problema que o trabalho resolve.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 os três verbos: analisar, organizar, recuperar. Diga que o sistema usa técnicas modernas de IA (embeddings) para isso.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Essa é a parte conceitual mais importante. Use a analogia: cada texto vira um ponto num mapa; textos parecidos ficam perto. Não precisa entrar em matemática. (~1,5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Diga que escolheu uma base REAL e em português, para o trabalho ter valor prático. Mencione o tamanho (~130 mil).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 rápido pelas 5 etapas, sem aprofundar. Diga que vai mostrar os resultados de cada uma nos próximos slides.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que, antes da parte semântica, dá para entender a base só pela frequência das palavras. Comente 1 ou 2 termos do gráfico.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o cosseno de forma simples: quanto mais alinhados os vetores, mais parecido o sentido; valor perto de 1 = muito parecido.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mais importante — é a prova de que funciona. Destaque que a busca achou 'furado' e 'bateria fraca' por SENTIDO, não por palavra. Pode abrir o app ao vivo aqui se quiser. (~1,5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 que, além de buscar, o sistema ORGANIZA: cada cor é um grupo de avaliações com assunto parecido, descoberto sem rótulos. (~45s)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você abre o app ao vivo (ou mostra um print). Faça UMA busca na frente da turma — é o momento de maior impacto. (~1,5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conectando com o mundo real: é a mesma ideia por trás do ChatGPT com busca, do Google semântico, etc. Reforce que o objetivo foi cumprido.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Agradeça e abra para perguntas. (~30s)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72000"/>
            <a:ext cx="12191695" cy="109728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600" b="1">
                <a:solidFill>
                  <a:srgbClr val="FFFFFF"/>
                </a:solidFill>
                <a:latin typeface="Segoe UI"/>
              </a:rPr>
              <a:t>Busca Semântica em Textos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EAE7FF"/>
                </a:solidFill>
                <a:latin typeface="Segoe UI"/>
              </a:rPr>
              <a:t>Recuperação inteligente de informação com NLP e embeddings vetoriais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  <a:latin typeface="Segoe UI"/>
              </a:rPr>
              <a:t>Processamento de Linguagem Natural  •  IESB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AE7FF"/>
                </a:solidFill>
                <a:latin typeface="Segoe UI"/>
              </a:rPr>
              <a:t>Cesar Eustaquio da Fonseca Filho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A busca tradicional procura PALAVRAS EXATAS.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Se você busca "celular travando" e o texto diz "aparelho congela", a busca por palavra-chave não encontra.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Em grandes volumes de texto, isso faz perder informação relevante.</a:t>
            </a:r>
          </a:p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Precisamos buscar por SIGNIFICADO, não por palavra exata.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Objetivo do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Desenvolver um sistema de NLP capaz de: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ANALISAR um grande volume de textos;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ORGANIZAR esses textos por similaridade de conteúdo;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RECUPERAR informação de forma semântica (por significado).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Demonstrando como embeddings vetoriais melhoram a busca em texto.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A ideia central: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Embedding = transformar um texto em um vetor de números.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Cada frase vira um ponto em um espaço de muitas dimensões (aqui, 384).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Textos com SIGNIFICADO parecido ficam PRÓXIMOS nesse espaço.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"chegou quebrado" e "veio com defeito" → vetores próximos.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1B2E"/>
                </a:solidFill>
                <a:latin typeface="Segoe UI"/>
              </a:rPr>
              <a:t>•  Assim, medir distância entre vetores = medir semelhança de sentido.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Os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Base B2W-Reviews01 — avaliações reais de e-commerce em português.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≈ 130 mil avaliações de produtos (Americanas/B2W).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Colunas usadas: texto da avaliação, categoria, nota (1–5) e título.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Texto real, escrito por clientes — com gírias, erros e abreviações.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Metodologia (passo a passo)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1.  Limpeza do texto — minúsculas, sem pontuação, remoção de stopwords.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2.  Análise exploratória — palavras e expressões mais frequentes.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3.  Embeddings — cada avaliação vira um vetor (modelo multilíngue).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4.  Organização — agrupamento (K-Means) por similaridade.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1B2E"/>
                </a:solidFill>
                <a:latin typeface="Segoe UI"/>
              </a:rPr>
              <a:t>•  5.  Busca semântica — consulta → vetor → similaridade do cosseno.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Análise: palavras mais frequentes</a:t>
            </a:r>
          </a:p>
        </p:txBody>
      </p:sp>
      <p:pic>
        <p:nvPicPr>
          <p:cNvPr id="5" name="Picture 4" descr="img_frequ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17" y="1554480"/>
            <a:ext cx="9672061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6C5CE7"/>
                </a:solidFill>
                <a:latin typeface="Segoe UI"/>
              </a:rPr>
              <a:t>Termos como 'produto', 'entrega', 'recomendo' dominam as avaliações.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Como a busca semântica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1.  O usuário digita uma consulta em linguagem natural.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2.  A consulta é transformada no mesmo tipo de vetor das avaliações.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3.  Calculamos a similaridade do cosseno entre a consulta e cada texto.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4.  Retornamos as avaliações mais próximas (maior similaridade).</a:t>
            </a:r>
          </a:p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1B2E"/>
                </a:solidFill>
                <a:latin typeface="Segoe UI"/>
              </a:rPr>
              <a:t>•  Similaridade do cosseno = o quão alinhados dois vetores estão (0 a 1).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Resultado: busca por significado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Consulta: "o produto chegou quebrado e com defeito"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→ "O produto veio quebrado em várias partes"   (83%)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→ "O produto veio furado, não dá pra aproveitar"   (78%)</a:t>
            </a:r>
          </a:p>
          <a:p>
            <a:pPr algn="l">
              <a:spcAft>
                <a:spcPts val="1000"/>
              </a:spcAft>
            </a:pPr>
            <a:r>
              <a:rPr sz="1900" b="1">
                <a:solidFill>
                  <a:srgbClr val="1E1B2E"/>
                </a:solidFill>
                <a:latin typeface="Segoe UI"/>
              </a:rPr>
              <a:t>•  Repare: encontrou "furado" e "defeito" sem a consulta usar essas palavras.</a:t>
            </a:r>
          </a:p>
          <a:p>
            <a:pPr algn="l">
              <a:spcAft>
                <a:spcPts val="1000"/>
              </a:spcAft>
            </a:pPr>
            <a:r>
              <a:rPr sz="1900" b="0">
                <a:solidFill>
                  <a:srgbClr val="475569"/>
                </a:solidFill>
                <a:latin typeface="Segoe UI"/>
              </a:rPr>
              <a:t>•  Consulta: "a bateria descarrega muito rápido"  →  celulares c/ bateria fraca (87%)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Organização: agrupamento semântico</a:t>
            </a:r>
          </a:p>
        </p:txBody>
      </p:sp>
      <p:pic>
        <p:nvPicPr>
          <p:cNvPr id="5" name="Picture 4" descr="img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827" y="1554480"/>
            <a:ext cx="649004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0350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1600" b="1">
                <a:solidFill>
                  <a:srgbClr val="6C5CE7"/>
                </a:solidFill>
                <a:latin typeface="Segoe UI"/>
              </a:rPr>
              <a:t>O K-Means separa as avaliações em grupos de conteúdo parecido, automaticamente.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O sistema online (Streamlit)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Tudo isso virou um app web simples de usar.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O usuário digita a busca e vê os resultados em cards.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Cada resultado mostra: categoria, nota, texto e % de similaridade.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Publicado gratuitamente na nuvem (Streamlit Community Cloud).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"/>
            <a:ext cx="2194560" cy="54864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>
                <a:solidFill>
                  <a:srgbClr val="1E1B2E"/>
                </a:solidFill>
                <a:latin typeface="Segoe UI"/>
              </a:rPr>
              <a:t>Conclusão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5156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1">
                <a:solidFill>
                  <a:srgbClr val="1E1B2E"/>
                </a:solidFill>
                <a:latin typeface="Segoe UI"/>
              </a:rPr>
              <a:t>•  Demonstramos uma busca que entende o SIGNIFICADO do texto.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Embeddings + similaridade do cosseno recuperam informação relevante.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475569"/>
                </a:solidFill>
                <a:latin typeface="Segoe UI"/>
              </a:rPr>
              <a:t>•  É a base de tecnologias atuais: buscadores semânticos, assistentes de IA e bancos de dados vetoriais (RAG).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1E1B2E"/>
                </a:solidFill>
                <a:latin typeface="Segoe UI"/>
              </a:rPr>
              <a:t>•  NLP ajuda a interpretar e recuperar conhecimento em grandes volumes de texto.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00C2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00"/>
              </a:spcAft>
            </a:pPr>
            <a:r>
              <a:rPr sz="4800" b="1">
                <a:solidFill>
                  <a:srgbClr val="FFFFFF"/>
                </a:solidFill>
                <a:latin typeface="Segoe UI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